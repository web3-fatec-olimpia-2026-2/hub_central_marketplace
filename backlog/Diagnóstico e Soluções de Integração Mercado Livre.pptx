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4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11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28.png"/><Relationship Id="rId14" Type="http://schemas.openxmlformats.org/officeDocument/2006/relationships/image" Target="../media/image4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11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.png"/><Relationship Id="rId7" Type="http://schemas.openxmlformats.org/officeDocument/2006/relationships/image" Target="../media/image68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725959"/>
            <a:ext cx="400050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598640"/>
            <a:ext cx="990600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6438900"/>
            <a:ext cx="11144250" cy="238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875" y="2192684"/>
            <a:ext cx="59007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Urbanist"/>
              </a:rPr>
              <a:t>Diagnóstico &amp; Soluções:</a:t>
            </a:r>
            <a:r>
              <a:t>
</a:t>
            </a:r>
            <a:r>
              <a:rPr b="1" sz="3900" i="0" u="none">
                <a:solidFill>
                  <a:srgbClr val="38BDF8"/>
                </a:solidFill>
                <a:latin typeface="Urbanist"/>
              </a:rPr>
              <a:t>Integração Mercado Livre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5" y="3503265"/>
            <a:ext cx="9906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Urbanist"/>
              </a:rPr>
              <a:t>Documentação do bloqueio regulatório de leitura de pedidos em contas de terceiros (HTTP 403 Forbidden), comprovação empírica de causa raiz e especificação das duas opções para tomada de decisão: Criação de App no Meli Developers por Seller vs. Homologação Oficial de Parceiro.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6543675"/>
            <a:ext cx="32099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Hub de Integração de Marketplaces — Fonte Única da Verdade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7475" y="6543675"/>
            <a:ext cx="1390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Documento Técnico Interno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1802159"/>
            <a:ext cx="152400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75" y="4798665"/>
            <a:ext cx="28956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Urbanist"/>
              </a:rPr>
              <a:t>Ambiente</a:t>
            </a:r>
            <a:r>
              <a:rPr b="0" sz="1200" i="0" u="none">
                <a:solidFill>
                  <a:srgbClr val="E2E8F0"/>
                </a:solidFill>
                <a:latin typeface="Urbanist"/>
              </a:rPr>
              <a:t> </a:t>
            </a:r>
            <a:r>
              <a:rPr b="0" sz="1200" i="0" u="none">
                <a:solidFill>
                  <a:srgbClr val="CBD5E1"/>
                </a:solidFill>
                <a:latin typeface="Urbanist Medium"/>
              </a:rPr>
              <a:t>Django Multi-Tenant / Webhook Ingestion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4275" y="4798665"/>
            <a:ext cx="22860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Urbanist"/>
              </a:rPr>
              <a:t>Canal Integrado</a:t>
            </a:r>
            <a:r>
              <a:rPr b="0" sz="1200" i="0" u="none">
                <a:solidFill>
                  <a:srgbClr val="E2E8F0"/>
                </a:solidFill>
                <a:latin typeface="Urbanist"/>
              </a:rPr>
              <a:t> </a:t>
            </a:r>
            <a:r>
              <a:rPr b="0" sz="1200" i="0" u="none">
                <a:solidFill>
                  <a:srgbClr val="CBD5E1"/>
                </a:solidFill>
                <a:latin typeface="Urbanist Medium"/>
              </a:rPr>
              <a:t>Mercado Livre OpenPlatform 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5075" y="4798665"/>
            <a:ext cx="25717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Urbanist"/>
              </a:rPr>
              <a:t>Status</a:t>
            </a:r>
            <a:r>
              <a:rPr b="0" sz="1200" i="0" u="none">
                <a:solidFill>
                  <a:srgbClr val="E2E8F0"/>
                </a:solidFill>
                <a:latin typeface="Urbanist"/>
              </a:rPr>
              <a:t> </a:t>
            </a:r>
            <a:r>
              <a:rPr b="0" sz="1200" i="0" u="none">
                <a:solidFill>
                  <a:srgbClr val="CBD5E1"/>
                </a:solidFill>
                <a:latin typeface="Urbanist Medium"/>
              </a:rPr>
              <a:t>Evidência Empírica Consolidada (HTTP 403)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133475"/>
            <a:ext cx="5400675" cy="5295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133475"/>
            <a:ext cx="5400675" cy="5295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6438900"/>
            <a:ext cx="11144250" cy="238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85775"/>
            <a:ext cx="311497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543675"/>
            <a:ext cx="14382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Fundamentos da Arquitetura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4750" y="6543675"/>
            <a:ext cx="3333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Slide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1390650"/>
            <a:ext cx="47605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Urbanist SemiBold"/>
              </a:rPr>
              <a:t>Governança de Catálogo (SSOT)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1714500"/>
            <a:ext cx="48482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Urbanist"/>
              </a:rPr>
              <a:t>O Hub funciona como a </a:t>
            </a:r>
            <a:r>
              <a:rPr b="1" sz="1125" i="0" u="none">
                <a:solidFill>
                  <a:srgbClr val="F1F5F9"/>
                </a:solidFill>
                <a:latin typeface="Urbanist"/>
              </a:rPr>
              <a:t>Fonte Única da Verdade</a:t>
            </a:r>
            <a:r>
              <a:rPr b="0" sz="1125" i="0" u="none">
                <a:solidFill>
                  <a:srgbClr val="94A3B8"/>
                </a:solidFill>
                <a:latin typeface="Urbanist"/>
              </a:rPr>
              <a:t> para saldo físico, precificação e composição de kits multicanal: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0375" y="1390650"/>
            <a:ext cx="481060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Urbanist SemiBold"/>
              </a:rPr>
              <a:t>Ingestão Assíncrona de Vendas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1714500"/>
            <a:ext cx="48482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Urbanist"/>
              </a:rPr>
              <a:t>Recepção em tempo real de notificações de vendas externas para dedução imediata no inventário local: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409700"/>
            <a:ext cx="2190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6800" y="2257425"/>
            <a:ext cx="45815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Controle atômico com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select_for_update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para erradicar risco de </a:t>
            </a:r>
            <a:r>
              <a:rPr b="0" sz="1087" i="1" u="none">
                <a:solidFill>
                  <a:srgbClr val="CBD5E1"/>
                </a:solidFill>
                <a:latin typeface="Urbanist"/>
              </a:rPr>
              <a:t>overselling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2786062"/>
            <a:ext cx="45815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Envio de preço e cota sob demanda via chamadas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PUT /items/{id}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(HTTP 200 OK).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3314700"/>
            <a:ext cx="45815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Registro completo no Histórico de Alterações de Preço e Estoque para auditoria.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1409700"/>
            <a:ext cx="17145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10375" y="2257425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Roteamento dinâmico pelo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user_id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(Seller ID) da loja destinatária.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0375" y="2578893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Barreira estrita de idempotência para descarte de notificações duplicadas.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0375" y="2900362"/>
            <a:ext cx="45815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Ponto de falha externo: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Dependência de autorização em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GET /orders/{id}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290762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819400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348037"/>
            <a:ext cx="114300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2290762"/>
            <a:ext cx="11430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2612231"/>
            <a:ext cx="114300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3675" y="2933700"/>
            <a:ext cx="133350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9672" y="428625"/>
            <a:ext cx="1124232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Urbanist"/>
              </a:rPr>
              <a:t>Arquitetura &amp; Papel do Hub Central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875" y="904875"/>
            <a:ext cx="111442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24050"/>
            <a:ext cx="5400675" cy="3714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438900"/>
            <a:ext cx="11144250" cy="238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85775"/>
            <a:ext cx="216247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875" y="654367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Caso de Controle: Conta Proprietária da Aplicação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4275" y="6543675"/>
            <a:ext cx="323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Slide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2597943"/>
            <a:ext cx="56707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Urbanist SemiBold"/>
              </a:rPr>
              <a:t>Seller Proprietário (Nova Loja)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5" y="2921793"/>
            <a:ext cx="540067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Urbanist"/>
              </a:rPr>
              <a:t>Quando a conta vendedora é </a:t>
            </a:r>
            <a:r>
              <a:rPr b="1" sz="1125" i="0" u="none">
                <a:solidFill>
                  <a:srgbClr val="F1F5F9"/>
                </a:solidFill>
                <a:latin typeface="Urbanist"/>
              </a:rPr>
              <a:t>a mesma conta que criou a aplicação</a:t>
            </a:r>
            <a:r>
              <a:rPr b="0" sz="1125" i="0" u="none">
                <a:solidFill>
                  <a:srgbClr val="94A3B8"/>
                </a:solidFill>
                <a:latin typeface="Urbanist"/>
              </a:rPr>
              <a:t> no portal Mercado Livre Developers (Seller ID: </a:t>
            </a:r>
            <a:r>
              <a:rPr b="0" sz="1125" i="0" u="none">
                <a:solidFill>
                  <a:srgbClr val="94A3B8"/>
                </a:solidFill>
                <a:latin typeface="Urbanist"/>
              </a:rPr>
              <a:t>3648413896</a:t>
            </a:r>
            <a:r>
              <a:rPr b="0" sz="1125" i="0" u="none">
                <a:solidFill>
                  <a:srgbClr val="94A3B8"/>
                </a:solidFill>
                <a:latin typeface="Urbanist"/>
              </a:rPr>
              <a:t>), o ciclo opera com 100% de sucesso: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3679031"/>
            <a:ext cx="51339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Webhook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orders_v2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ingerido com HTTP 200 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4000500"/>
            <a:ext cx="51339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Pedido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#2000018429720540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montado com dados completos.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4321968"/>
            <a:ext cx="51339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Baixa física atômica comprovada: </a:t>
            </a:r>
            <a:r>
              <a:rPr b="1" sz="1087" i="0" u="none">
                <a:solidFill>
                  <a:srgbClr val="F1F5F9"/>
                </a:solidFill>
                <a:latin typeface="Urbanist"/>
              </a:rPr>
              <a:t>18 un. → 17 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4643437"/>
            <a:ext cx="51339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O Mercado Livre refletiu 17 un. no depósito do anúncio.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933575"/>
            <a:ext cx="5381625" cy="3695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3712368"/>
            <a:ext cx="13335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033837"/>
            <a:ext cx="13335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355306"/>
            <a:ext cx="13335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676775"/>
            <a:ext cx="133350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4422" y="428625"/>
            <a:ext cx="1133757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Urbanist"/>
              </a:rPr>
              <a:t>Caso de Sucesso: Conta Proprietária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904875"/>
            <a:ext cx="111442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24050"/>
            <a:ext cx="5400675" cy="3714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438900"/>
            <a:ext cx="11144250" cy="238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85775"/>
            <a:ext cx="244822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875" y="6543675"/>
            <a:ext cx="30384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Contraprova Empírica: Erro HTTP 403 em Conta de Terceiro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750" y="6543675"/>
            <a:ext cx="3333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Slide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2705100"/>
            <a:ext cx="56707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Urbanist SemiBold"/>
              </a:rPr>
              <a:t>Seller Terceiro (Empresa XPTO)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5" y="3028950"/>
            <a:ext cx="54006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Urbanist"/>
              </a:rPr>
              <a:t>Ao inverter os papéis e transacionar na conta </a:t>
            </a:r>
            <a:r>
              <a:rPr b="1" sz="1125" i="0" u="none">
                <a:solidFill>
                  <a:srgbClr val="F1F5F9"/>
                </a:solidFill>
                <a:latin typeface="Urbanist"/>
              </a:rPr>
              <a:t>Empresa XPTO</a:t>
            </a:r>
            <a:r>
              <a:rPr b="0" sz="1125" i="0" u="none">
                <a:solidFill>
                  <a:srgbClr val="94A3B8"/>
                </a:solidFill>
                <a:latin typeface="Urbanist"/>
              </a:rPr>
              <a:t> (Seller ID: </a:t>
            </a:r>
            <a:r>
              <a:rPr b="0" sz="1125" i="0" u="none">
                <a:solidFill>
                  <a:srgbClr val="94A3B8"/>
                </a:solidFill>
                <a:latin typeface="Urbanist"/>
              </a:rPr>
              <a:t>41977437</a:t>
            </a:r>
            <a:r>
              <a:rPr b="0" sz="1125" i="0" u="none">
                <a:solidFill>
                  <a:srgbClr val="94A3B8"/>
                </a:solidFill>
                <a:latin typeface="Urbanist"/>
              </a:rPr>
              <a:t>), o bloqueio regulatório ocorreu de forma categórica: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3571875"/>
            <a:ext cx="51339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Escrita de catálogo funcionou perfeitamente (R$ 0,12 / 27 un.).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3893343"/>
            <a:ext cx="51339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Webhook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orders_v2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gerou </a:t>
            </a:r>
            <a:r>
              <a:rPr b="1" sz="1087" i="0" u="none">
                <a:solidFill>
                  <a:srgbClr val="F1F5F9"/>
                </a:solidFill>
                <a:latin typeface="Urbanist"/>
              </a:rPr>
              <a:t>ERRO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no Hub às 21:38.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4214812"/>
            <a:ext cx="51339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HTTP 403 Forbidden: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Meli bloqueia consulta a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/orders/2000018430015274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4536281"/>
            <a:ext cx="51339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O pedido não é montado e o estoque físico não é baixado.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933575"/>
            <a:ext cx="5381625" cy="3695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3605212"/>
            <a:ext cx="13335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3926681"/>
            <a:ext cx="13335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4248150"/>
            <a:ext cx="13335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4569618"/>
            <a:ext cx="133350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2997" y="428625"/>
            <a:ext cx="1130900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Urbanist"/>
              </a:rPr>
              <a:t>Contraprova: Conta Terceiro (403)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904875"/>
            <a:ext cx="111442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24050"/>
            <a:ext cx="5400675" cy="3714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438900"/>
            <a:ext cx="11144250" cy="238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85775"/>
            <a:ext cx="273397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875" y="6543675"/>
            <a:ext cx="16002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Evidência de Rede e Telemetria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750" y="6543675"/>
            <a:ext cx="3333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Slide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2601515"/>
            <a:ext cx="56707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Urbanist SemiBold"/>
              </a:rPr>
              <a:t>Inspeção no Ngrok Traffic Inspector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5" y="2925365"/>
            <a:ext cx="54006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Urbanist"/>
              </a:rPr>
              <a:t>A captura em baixo nível do payload recebido atesta que a infraestrutura de rede e recepção está totalmente íntegra: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3468290"/>
            <a:ext cx="51339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POST recebido: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/marketplaces/webhooks/mercadolivre/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com 200 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3789759"/>
            <a:ext cx="51339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User ID notificado: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41977437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(Empresa XPTO).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4111228"/>
            <a:ext cx="51339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App ID originário: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8617665877085257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4432696"/>
            <a:ext cx="51339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Resposta interna: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</a:t>
            </a:r>
            <a:r>
              <a:rPr b="0" sz="1087" i="1" u="none">
                <a:solidFill>
                  <a:srgbClr val="CBD5E1"/>
                </a:solidFill>
                <a:latin typeface="Urbanist"/>
              </a:rPr>
              <a:t>"Falha no processamento interno do pedido '/orders/2000018430015274'"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gerada pela recusa HTTP 403 da Meli.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933575"/>
            <a:ext cx="5381625" cy="3695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3501628"/>
            <a:ext cx="15240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3823096"/>
            <a:ext cx="10477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4144565"/>
            <a:ext cx="133350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1572" y="428625"/>
            <a:ext cx="1128042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Urbanist"/>
              </a:rPr>
              <a:t>Inspeção de Rede e Webhook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3875" y="904875"/>
            <a:ext cx="111442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952750"/>
            <a:ext cx="5400675" cy="1657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438900"/>
            <a:ext cx="11144250" cy="238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85775"/>
            <a:ext cx="244822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875" y="6543675"/>
            <a:ext cx="12763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Causa Raiz Comprovada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4275" y="6543675"/>
            <a:ext cx="323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Slide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7450" y="2444353"/>
            <a:ext cx="56707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Urbanist SemiBold"/>
              </a:rPr>
              <a:t>Proteção de PII e Escopos Não Homologados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7450" y="2768203"/>
            <a:ext cx="54006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Urbanist"/>
              </a:rPr>
              <a:t>O teste empírico comprovou que o código, o túnel e a idempotência operam com 100% de estabilidade.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7450" y="3311128"/>
            <a:ext cx="54006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Urbanist"/>
              </a:rPr>
              <a:t>O </a:t>
            </a:r>
            <a:r>
              <a:rPr b="1" sz="1125" i="0" u="none">
                <a:solidFill>
                  <a:srgbClr val="F1F5F9"/>
                </a:solidFill>
                <a:latin typeface="Urbanist"/>
              </a:rPr>
              <a:t>HTTP 403 (Forbidden)</a:t>
            </a:r>
            <a:r>
              <a:rPr b="0" sz="1125" i="0" u="none">
                <a:solidFill>
                  <a:srgbClr val="94A3B8"/>
                </a:solidFill>
                <a:latin typeface="Urbanist"/>
              </a:rPr>
              <a:t> é um bloqueio deliberado da política OAuth da Meli OpenPlatform: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3286125"/>
            <a:ext cx="4733925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850"/>
              </a:lnSpc>
            </a:pPr>
            <a:r>
              <a:rPr b="1" sz="5850" i="0" u="none">
                <a:solidFill>
                  <a:srgbClr val="EF4444"/>
                </a:solidFill>
                <a:latin typeface="JetBrains Mono"/>
              </a:rPr>
              <a:t>403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4105275"/>
            <a:ext cx="47339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Urbanist SemiBold"/>
              </a:rPr>
              <a:t>FORBIDDEN EM /ORDERS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3854053"/>
            <a:ext cx="51339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Privacidade (PII):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A API proíbe que apps de desenvolvedor convencionais acessem dados pessoais de compradores de lojas terceiras.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4382690"/>
            <a:ext cx="5133975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Escrita vs Leitura: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A escrita no catálogo (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PUT /items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) é permitida, mas a leitura do pedido (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GET /orders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) exige que a conta vendedora seja proprietária da App ou que o App seja homologado.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450" y="3887390"/>
            <a:ext cx="11430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450" y="4416028"/>
            <a:ext cx="133350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2997" y="428625"/>
            <a:ext cx="1130900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Urbanist"/>
              </a:rPr>
              <a:t>Causa Raiz: HTTP 403 e Política Meli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875" y="904875"/>
            <a:ext cx="111442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133475"/>
            <a:ext cx="5400675" cy="5295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133475"/>
            <a:ext cx="5400675" cy="5295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6438900"/>
            <a:ext cx="11144250" cy="238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85775"/>
            <a:ext cx="273397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543675"/>
            <a:ext cx="29051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Solução 1: Aplicação Própria no Portal de Desenvolvedores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44275" y="6543675"/>
            <a:ext cx="323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Slide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475" y="1390650"/>
            <a:ext cx="47405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Urbanist SemiBold"/>
              </a:rPr>
              <a:t>Aplicação Própria por Seller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1714500"/>
            <a:ext cx="48482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Urbanist"/>
              </a:rPr>
              <a:t>Cada lojista cria sua própria aplicação no portal </a:t>
            </a:r>
            <a:r>
              <a:rPr b="1" sz="1125" i="0" u="none">
                <a:solidFill>
                  <a:srgbClr val="F1F5F9"/>
                </a:solidFill>
                <a:latin typeface="Urbanist"/>
              </a:rPr>
              <a:t>Mercado Livre Developers</a:t>
            </a:r>
            <a:r>
              <a:rPr b="0" sz="1125" i="0" u="none">
                <a:solidFill>
                  <a:srgbClr val="94A3B8"/>
                </a:solidFill>
                <a:latin typeface="Urbanist"/>
              </a:rPr>
              <a:t> e conecta as credenciais no Hub.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9425" y="1390650"/>
            <a:ext cx="479059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Urbanist SemiBold"/>
              </a:rPr>
              <a:t>O que o Seller Configura no Meli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1714500"/>
            <a:ext cx="48482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Urbanist"/>
              </a:rPr>
              <a:t>O lojista acessa seu painel Developers no Mercado Livre e realiza três configurações simples: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409700"/>
            <a:ext cx="2381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6800" y="2257425"/>
            <a:ext cx="45815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Zero bloqueio 403: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A App pertence ao próprio lojista, logo a API trata as requisições como conta proprietária legítima.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2786062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Acesso irrestrito imediato a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GET /orders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e baixa física de estoque.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3107531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Independência total de filas ou burocracias de homologação do Meli.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1409700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10375" y="2257425"/>
            <a:ext cx="45815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Redirect URI (Callback):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URL segura fornecida pelo Hub para retorno OAuth.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0375" y="2786062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Notification Callback (Webhook):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Endpoint para recepção de eventos.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0375" y="3107531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Escopos: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Leitura e escrita completas (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read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,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write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,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offline_access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).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290762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819400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140868"/>
            <a:ext cx="114300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3675" y="2290762"/>
            <a:ext cx="17145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75" y="2819400"/>
            <a:ext cx="114300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3675" y="3140868"/>
            <a:ext cx="133350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1572" y="428625"/>
            <a:ext cx="1128042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Urbanist"/>
              </a:rPr>
              <a:t>Solução 1: App no Meli Developers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875" y="904875"/>
            <a:ext cx="111442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133475"/>
            <a:ext cx="5400675" cy="5295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133475"/>
            <a:ext cx="5400675" cy="5295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6438900"/>
            <a:ext cx="11144250" cy="238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85775"/>
            <a:ext cx="273397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543675"/>
            <a:ext cx="18192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Especificação Funcional da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44275" y="6543675"/>
            <a:ext cx="323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Slide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1390650"/>
            <a:ext cx="481060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Urbanist SemiBold"/>
              </a:rPr>
              <a:t>Dados Disponibilizados pelo 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1714500"/>
            <a:ext cx="48482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Urbanist"/>
              </a:rPr>
              <a:t>Na tela de configuração da conta/tenant, o Hub gera e exibe URLs prontas com botão de cópia com 1 clique: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9425" y="1390650"/>
            <a:ext cx="479059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Urbanist SemiBold"/>
              </a:rPr>
              <a:t>Inputs de Credenciais do Seller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1714500"/>
            <a:ext cx="48482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Urbanist"/>
              </a:rPr>
              <a:t>Campos gerenciados pelo lojista na tela de canais do Hub: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409700"/>
            <a:ext cx="1714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6800" y="2257425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URL de Callback OAuth: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https://hub.../oauth/callback/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2578893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URL do Webhook: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https://hub.../webhooks/mercadolivre/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2900362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Passo a passo visual de como criar a App no portal Meli Developers.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1409700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10375" y="2043112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App ID: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Identificador numérico público da aplicação no Meli.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0375" y="2364581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Client Secret: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Segredo da aplicação cifrado em repouso.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0375" y="2686050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Fluxo de Autorização: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Botão para disparar o login OAuth da sua App.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290762"/>
            <a:ext cx="13335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612231"/>
            <a:ext cx="13335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933700"/>
            <a:ext cx="133350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3675" y="2076450"/>
            <a:ext cx="11430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3675" y="2397918"/>
            <a:ext cx="114300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3675" y="2719387"/>
            <a:ext cx="133350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1572" y="428625"/>
            <a:ext cx="1128042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Urbanist"/>
              </a:rPr>
              <a:t>Solução 1: Nova Interface no Hub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875" y="904875"/>
            <a:ext cx="111442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43187"/>
            <a:ext cx="3575000" cy="2276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25" y="2643187"/>
            <a:ext cx="3575000" cy="2276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643187"/>
            <a:ext cx="3575000" cy="2276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6438900"/>
            <a:ext cx="11144250" cy="238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85775"/>
            <a:ext cx="311497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43675"/>
            <a:ext cx="25812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Conformidade OWASP e Segurança de Credenciais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44275" y="6543675"/>
            <a:ext cx="323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Slide 9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2900362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2950" y="3548062"/>
            <a:ext cx="329369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8FAFC"/>
                </a:solidFill>
                <a:latin typeface="Urbanist SemiBold"/>
              </a:rPr>
              <a:t>Criptografia em Repouso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3862387"/>
            <a:ext cx="31368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Urbanist"/>
              </a:rPr>
              <a:t>O </a:t>
            </a:r>
            <a:r>
              <a:rPr b="0" sz="1050" i="0" u="none">
                <a:solidFill>
                  <a:srgbClr val="94A3B8"/>
                </a:solidFill>
                <a:latin typeface="Urbanist"/>
              </a:rPr>
              <a:t>client_secret</a:t>
            </a:r>
            <a:r>
              <a:rPr b="0" sz="1050" i="0" u="none">
                <a:solidFill>
                  <a:srgbClr val="94A3B8"/>
                </a:solidFill>
                <a:latin typeface="Urbanist"/>
              </a:rPr>
              <a:t> e tokens de refresh são gravados no banco através de </a:t>
            </a:r>
            <a:r>
              <a:rPr b="1" sz="1050" i="0" u="none">
                <a:solidFill>
                  <a:srgbClr val="F1F5F9"/>
                </a:solidFill>
                <a:latin typeface="Urbanist"/>
              </a:rPr>
              <a:t>Fernet (AES-128-CBC + HMAC-SHA256)</a:t>
            </a:r>
            <a:r>
              <a:rPr b="0" sz="1050" i="0" u="none">
                <a:solidFill>
                  <a:srgbClr val="94A3B8"/>
                </a:solidFill>
                <a:latin typeface="Urbanist"/>
              </a:rPr>
              <a:t> com chave mestra segura em variável de ambiente.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7500" y="2900362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7500" y="3548062"/>
            <a:ext cx="329369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8FAFC"/>
                </a:solidFill>
                <a:latin typeface="Urbanist SemiBold"/>
              </a:rPr>
              <a:t>Mascaração no Front-End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7500" y="3862387"/>
            <a:ext cx="31368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Urbanist"/>
              </a:rPr>
              <a:t>Após a gravação inicial, o segredo </a:t>
            </a:r>
            <a:r>
              <a:rPr b="1" sz="1050" i="0" u="none">
                <a:solidFill>
                  <a:srgbClr val="F1F5F9"/>
                </a:solidFill>
                <a:latin typeface="Urbanist"/>
              </a:rPr>
              <a:t>nunca mais é transmitido em texto plano ao navegador</a:t>
            </a:r>
            <a:r>
              <a:rPr b="0" sz="1050" i="0" u="none">
                <a:solidFill>
                  <a:srgbClr val="94A3B8"/>
                </a:solidFill>
                <a:latin typeface="Urbanist"/>
              </a:rPr>
              <a:t>. A interface renderiza apenas uma máscara fixa: </a:t>
            </a:r>
            <a:r>
              <a:rPr b="0" sz="1050" i="0" u="none">
                <a:solidFill>
                  <a:srgbClr val="94A3B8"/>
                </a:solidFill>
                <a:latin typeface="Urbanist"/>
              </a:rPr>
              <a:t>••••••••••••••••</a:t>
            </a:r>
            <a:r>
              <a:rPr b="0" sz="1050" i="0" u="none">
                <a:solidFill>
                  <a:srgbClr val="94A3B8"/>
                </a:solidFill>
                <a:latin typeface="Urbanist"/>
              </a:rPr>
              <a:t>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2050" y="2900362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12050" y="3548062"/>
            <a:ext cx="329369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8FAFC"/>
                </a:solidFill>
                <a:latin typeface="Urbanist SemiBold"/>
              </a:rPr>
              <a:t>Edição &amp; Rotação Segura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2050" y="3862387"/>
            <a:ext cx="31368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Urbanist"/>
              </a:rPr>
              <a:t>O formulário prevê substituição protegida: se o campo for digitado, a nova chave é criptografada; se for mantido em branco, preserva o valor atual sem sobrescrita.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1062" y="3024187"/>
            <a:ext cx="21907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7987" y="3024187"/>
            <a:ext cx="31432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5875" y="3024187"/>
            <a:ext cx="247650" cy="2476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9672" y="428625"/>
            <a:ext cx="1124232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Urbanist"/>
              </a:rPr>
              <a:t>Criptografia Fernet &amp; Mascaramento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" y="904875"/>
            <a:ext cx="111442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133475"/>
            <a:ext cx="5400675" cy="5295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133475"/>
            <a:ext cx="5400675" cy="5295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6438900"/>
            <a:ext cx="11144250" cy="238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85775"/>
            <a:ext cx="187672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543675"/>
            <a:ext cx="2762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Solução 2: Certificação Oficial como Software Parceiro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06175" y="6543675"/>
            <a:ext cx="3619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Slide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1390650"/>
            <a:ext cx="479059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Urbanist SemiBold"/>
              </a:rPr>
              <a:t>Certificação como Parceiro Integrador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1714500"/>
            <a:ext cx="48482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Urbanist"/>
              </a:rPr>
              <a:t>Submeter a aplicação central do Hub ao processo formal de homologação de integradores do Mercado Livre: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9425" y="1390650"/>
            <a:ext cx="479059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Urbanist SemiBold"/>
              </a:rPr>
              <a:t>Requisitos e Dependências Meli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1714500"/>
            <a:ext cx="48482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Urbanist"/>
              </a:rPr>
              <a:t>O processo demanda auditoria técnica, conformidade e prazo de análise: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409700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6800" y="2257425"/>
            <a:ext cx="45815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Experiência Premium (UX):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O seller conecta sua loja apenas clicando em "Autorizar".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2786062"/>
            <a:ext cx="45815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Uma única App central atende a centenas de lojas terceiras simultaneamente.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3314700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CBD5E1"/>
                </a:solidFill>
                <a:latin typeface="Urbanist"/>
              </a:rPr>
              <a:t>Concessão global de escopos de pedidos e dados de compradores.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1409700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10375" y="2043112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Fila de espera: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Geralmente entre 3 a 8 semanas para avaliação técnica.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0375" y="2364581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Conformidade: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Termos formais de LGPD, política de privacidade e SLA.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0375" y="2686050"/>
            <a:ext cx="45815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Urbanist"/>
              </a:rPr>
              <a:t>Critérios comerciais:</a:t>
            </a:r>
            <a:r>
              <a:rPr b="0" sz="1087" i="0" u="none">
                <a:solidFill>
                  <a:srgbClr val="CBD5E1"/>
                </a:solidFill>
                <a:latin typeface="Urbanist"/>
              </a:rPr>
              <a:t> Exigência de base ativa ou volume transacional.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290762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819400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348037"/>
            <a:ext cx="114300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3675" y="2076450"/>
            <a:ext cx="13335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75" y="2397918"/>
            <a:ext cx="10477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3675" y="2719387"/>
            <a:ext cx="171450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5847" y="428625"/>
            <a:ext cx="1136615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Urbanist"/>
              </a:rPr>
              <a:t>Solução 2: Homologação Oficial Meli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875" y="904875"/>
            <a:ext cx="111442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6438900"/>
            <a:ext cx="11144250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85775"/>
            <a:ext cx="244822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6543675"/>
            <a:ext cx="1524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Matriz de Decisão Arquitetural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4275" y="6543675"/>
            <a:ext cx="323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Slide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875" y="2419350"/>
            <a:ext cx="11144250" cy="2724150"/>
          </a:xfrm>
          <a:prstGeom prst="roundRect">
            <a:avLst>
              <a:gd name="adj" fmla="val 0"/>
            </a:avLst>
          </a:prstGeom>
          <a:solidFill>
            <a:srgbClr val="111A3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23875" y="2419350"/>
          <a:ext cx="11134724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24732"/>
                <a:gridCol w="4601319"/>
                <a:gridCol w="3908673"/>
              </a:tblGrid>
              <a:tr h="454025"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F8FAFC"/>
                          </a:solidFill>
                          <a:latin typeface="Urbanist SemiBold"/>
                        </a:rPr>
                        <a:t>Critério de Avaliação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F8FAFC"/>
                          </a:solidFill>
                          <a:latin typeface="Urbanist SemiBold"/>
                        </a:rPr>
                        <a:t>Solução 1: App no Meli Developers por Seller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F8FAFC"/>
                          </a:solidFill>
                          <a:latin typeface="Urbanist SemiBold"/>
                        </a:rPr>
                        <a:t>Solução 2: Homologação Oficial Meli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94A3B8"/>
                          </a:solidFill>
                          <a:latin typeface="Urbanist"/>
                        </a:rPr>
                        <a:t>Time-to-Market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94A3B8"/>
                          </a:solidFill>
                          <a:latin typeface="Urbanist"/>
                        </a:rPr>
                        <a:t>Imediato (1 a 2 dias de implementação)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94A3B8"/>
                          </a:solidFill>
                          <a:latin typeface="Urbanist"/>
                        </a:rPr>
                        <a:t>Longo (3 a 8 semanas na fila Meli)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94A3B8"/>
                          </a:solidFill>
                          <a:latin typeface="Urbanist"/>
                        </a:rPr>
                        <a:t>Experiência do Lojista (UX)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94A3B8"/>
                          </a:solidFill>
                          <a:latin typeface="Urbanist"/>
                        </a:rPr>
                        <a:t>Requer criar conta no Meli Developers e colar chaves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94A3B8"/>
                          </a:solidFill>
                          <a:latin typeface="Urbanist"/>
                        </a:rPr>
                        <a:t>Excelente (1 clique via OAuth central)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94A3B8"/>
                          </a:solidFill>
                          <a:latin typeface="Urbanist"/>
                        </a:rPr>
                        <a:t>Segurança &amp; Proteção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94A3B8"/>
                          </a:solidFill>
                          <a:latin typeface="Urbanist"/>
                        </a:rPr>
                        <a:t>Isolamento total com Fernet em repouso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94A3B8"/>
                          </a:solidFill>
                          <a:latin typeface="Urbanist"/>
                        </a:rPr>
                        <a:t>Centralizada na aplicação mestre auditada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94A3B8"/>
                          </a:solidFill>
                          <a:latin typeface="Urbanist"/>
                        </a:rPr>
                        <a:t>Independência Externa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94A3B8"/>
                          </a:solidFill>
                          <a:latin typeface="Urbanist"/>
                        </a:rPr>
                        <a:t>Zero dependência de aprovações externas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94A3B8"/>
                          </a:solidFill>
                          <a:latin typeface="Urbanist"/>
                        </a:rPr>
                        <a:t>Total dependência do suporte Meli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94A3B8"/>
                          </a:solidFill>
                          <a:latin typeface="Urbanist"/>
                        </a:rPr>
                        <a:t>Escopo Operacional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94A3B8"/>
                          </a:solidFill>
                          <a:latin typeface="Urbanist"/>
                        </a:rPr>
                        <a:t>Ideal para clientes diretos, pilotos e uso corporativo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94A3B8"/>
                          </a:solidFill>
                          <a:latin typeface="Urbanist"/>
                        </a:rPr>
                        <a:t>Essencial para SaaS aberto em escala pública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28637" y="2843212"/>
            <a:ext cx="262473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3370" y="2843212"/>
            <a:ext cx="460131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54689" y="2843212"/>
            <a:ext cx="390867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8637" y="3300412"/>
            <a:ext cx="262473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3370" y="3300412"/>
            <a:ext cx="460131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54689" y="3300412"/>
            <a:ext cx="390867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8637" y="3757612"/>
            <a:ext cx="262473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3370" y="3757612"/>
            <a:ext cx="460131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54689" y="3757612"/>
            <a:ext cx="390867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8637" y="4214812"/>
            <a:ext cx="262473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53370" y="4214812"/>
            <a:ext cx="460131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54689" y="4214812"/>
            <a:ext cx="390867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8637" y="4672012"/>
            <a:ext cx="262473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53370" y="4672012"/>
            <a:ext cx="460131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54689" y="4672012"/>
            <a:ext cx="390867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4820" y="2981325"/>
            <a:ext cx="2228850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6139" y="2981325"/>
            <a:ext cx="1924050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6139" y="3438525"/>
            <a:ext cx="2105025" cy="2095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820" y="3895725"/>
            <a:ext cx="2295525" cy="2095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4820" y="4352925"/>
            <a:ext cx="2438400" cy="2095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6139" y="4352925"/>
            <a:ext cx="1981200" cy="2095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6139" y="4810125"/>
            <a:ext cx="2562225" cy="2095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82997" y="428625"/>
            <a:ext cx="1130900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Urbanist"/>
              </a:rPr>
              <a:t>Comparativo Técnico e Operacional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875" y="904875"/>
            <a:ext cx="111442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43187"/>
            <a:ext cx="3575000" cy="2276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25" y="2643187"/>
            <a:ext cx="3575000" cy="2276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643187"/>
            <a:ext cx="3575000" cy="2276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6438900"/>
            <a:ext cx="11144250" cy="238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85775"/>
            <a:ext cx="244822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43675"/>
            <a:ext cx="16668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Estratégia Híbrida Recomendada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6175" y="6543675"/>
            <a:ext cx="3619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Urbanist"/>
              </a:rPr>
              <a:t>Slide 12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2900362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2950" y="3548062"/>
            <a:ext cx="329369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8FAFC"/>
                </a:solidFill>
                <a:latin typeface="Urbanist SemiBold"/>
              </a:rPr>
              <a:t>1. Fase Imediata (Solução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3862387"/>
            <a:ext cx="31368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Urbanist"/>
              </a:rPr>
              <a:t>Implementar a model com </a:t>
            </a:r>
            <a:r>
              <a:rPr b="0" sz="1050" i="0" u="none">
                <a:solidFill>
                  <a:srgbClr val="94A3B8"/>
                </a:solidFill>
                <a:latin typeface="Urbanist"/>
              </a:rPr>
              <a:t>Fernet</a:t>
            </a:r>
            <a:r>
              <a:rPr b="0" sz="1050" i="0" u="none">
                <a:solidFill>
                  <a:srgbClr val="94A3B8"/>
                </a:solidFill>
                <a:latin typeface="Urbanist"/>
              </a:rPr>
              <a:t> e a UI de cadastro de App no Meli Developers por Seller. Destrava imediatamente a operação de novos lojistas sem o bloqueio HTTP 403.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7500" y="2900362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7500" y="3548062"/>
            <a:ext cx="329369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8FAFC"/>
                </a:solidFill>
                <a:latin typeface="Urbanist SemiBold"/>
              </a:rPr>
              <a:t>2. Protocolo de Homologação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7500" y="3862387"/>
            <a:ext cx="31368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Urbanist"/>
              </a:rPr>
              <a:t>Submeter em paralelo a aplicação mestre ao programa de parceiros do Mercado Livre, utilizando as evidências de arquitetura e telemetria já comprovadas no projeto.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2050" y="2900362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12050" y="3548062"/>
            <a:ext cx="329369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8FAFC"/>
                </a:solidFill>
                <a:latin typeface="Urbanist SemiBold"/>
              </a:rPr>
              <a:t>3. Convivência Híbrida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2050" y="3862387"/>
            <a:ext cx="31368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Urbanist"/>
              </a:rPr>
              <a:t>Quando a homologação oficial for concluída, o Hub oferecerá tanto o fluxo rápido de 1 clique quanto o suporte a apps dedicadas criadas pelos lojistas no portal Devs.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437" y="3024187"/>
            <a:ext cx="31432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1325" y="3024187"/>
            <a:ext cx="247650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5875" y="3024187"/>
            <a:ext cx="247650" cy="2476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2997" y="428625"/>
            <a:ext cx="1130900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Urbanist"/>
              </a:rPr>
              <a:t>Recomendação Estratégica &amp; Decisão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" y="904875"/>
            <a:ext cx="111442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